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57900" y="1885950"/>
            <a:ext cx="3429000" cy="3429000"/>
          </a:xfrm>
          <a:prstGeom prst="ellipse">
            <a:avLst/>
          </a:prstGeom>
          <a:solidFill>
            <a:srgbClr val="7C3AED">
              <a:lumMod val="15000"/>
              <a:lumOff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202400" y="1600200"/>
            <a:ext cx="4572000" cy="4572000"/>
          </a:xfrm>
          <a:prstGeom prst="ellipse">
            <a:avLst/>
          </a:prstGeom>
          <a:solidFill>
            <a:srgbClr val="FF6B6B">
              <a:lumMod val="15000"/>
              <a:lumOff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346900" y="1314450"/>
            <a:ext cx="5715000" cy="5715000"/>
          </a:xfrm>
          <a:prstGeom prst="ellipse">
            <a:avLst/>
          </a:prstGeom>
          <a:solidFill>
            <a:srgbClr val="7C3AED">
              <a:lumMod val="15000"/>
              <a:lumOff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2286000" cy="6858000"/>
          </a:xfrm>
          <a:prstGeom prst="roundRect">
            <a:avLst>
              <a:gd name="adj" fmla="val 5000"/>
            </a:avLst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0"/>
            <a:ext cx="182880" cy="68580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548640"/>
            <a:ext cx="1097280" cy="109728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36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9144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0"/>
              </a:spcAft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CreatorBridge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00"/>
              </a:spcAft>
              <a:defRPr sz="2800" b="0">
                <a:solidFill>
                  <a:srgbClr val="9B6DFF"/>
                </a:solidFill>
                <a:latin typeface="Calibri"/>
              </a:defRPr>
            </a:pPr>
            <a:r>
              <a:t>AI-Powered Creator-Brand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2000" b="0">
                <a:solidFill>
                  <a:srgbClr val="8B839B"/>
                </a:solidFill>
                <a:latin typeface="Calibri"/>
              </a:defRPr>
            </a:pPr>
            <a:r>
              <a:t>for the Indian &amp; APAC Creator Economy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389120"/>
            <a:ext cx="7772400" cy="182880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200"/>
              </a:spcAft>
              <a:defRPr sz="3200" b="1">
                <a:solidFill>
                  <a:srgbClr val="FF6B6B"/>
                </a:solidFill>
                <a:latin typeface="Calibri"/>
              </a:defRPr>
            </a:pPr>
            <a:r>
              <a:t>20M+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Creators in India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4754880"/>
            <a:ext cx="12700" cy="731520"/>
          </a:xfrm>
          <a:prstGeom prst="rect">
            <a:avLst/>
          </a:prstGeom>
          <a:solidFill>
            <a:srgbClr val="8B8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4663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200"/>
              </a:spcAft>
              <a:defRPr sz="3200" b="1">
                <a:solidFill>
                  <a:srgbClr val="FF6B6B"/>
                </a:solidFill>
                <a:latin typeface="Calibri"/>
              </a:defRPr>
            </a:pPr>
            <a:r>
              <a:t>$4.2B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Market Size by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4754880"/>
            <a:ext cx="12700" cy="731520"/>
          </a:xfrm>
          <a:prstGeom prst="rect">
            <a:avLst/>
          </a:prstGeom>
          <a:solidFill>
            <a:srgbClr val="8B8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663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20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Brands Using Creators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4754880"/>
            <a:ext cx="12700" cy="731520"/>
          </a:xfrm>
          <a:prstGeom prst="rect">
            <a:avLst/>
          </a:prstGeom>
          <a:solidFill>
            <a:srgbClr val="8B8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46634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200"/>
              </a:spcAft>
              <a:defRPr sz="3200" b="1">
                <a:solidFill>
                  <a:srgbClr val="10B981"/>
                </a:solidFill>
                <a:latin typeface="Calibri"/>
              </a:defRPr>
            </a:pPr>
            <a:r>
              <a:t>3.5x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Avg. ROI on Creator Campaigns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657600" cy="73152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3152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600"/>
              </a:spcAft>
              <a:defRPr sz="1600" b="1">
                <a:solidFill>
                  <a:srgbClr val="7C3AE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400"/>
              </a:spcAft>
              <a:defRPr sz="4400" b="1">
                <a:solidFill>
                  <a:srgbClr val="120E1A"/>
                </a:solidFill>
                <a:latin typeface="Calibri Light"/>
              </a:defRPr>
            </a:pPr>
            <a:r>
              <a:t>The Creator Economy Is Broken for Both Sides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600"/>
              </a:spcAft>
              <a:defRPr sz="3600" b="0">
                <a:solidFill>
                  <a:srgbClr val="120E1A"/>
                </a:solidFill>
                <a:latin typeface="Calibri"/>
              </a:defRPr>
            </a:pPr>
            <a:r>
              <a:t>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120E1A"/>
                </a:solidFill>
                <a:latin typeface="Calibri"/>
              </a:defRPr>
            </a:pPr>
            <a:r>
              <a:t>Brands Are Flying Blind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No standardized way to evaluate creator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793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Fraudulent engagement (bots, bought followers) wastes 30%+ of budgets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268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Manual vetting takes 15-20 hours per creator campaign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743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80% of brands say ROI measurement is their biggest challenge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5603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600"/>
              </a:spcAft>
              <a:defRPr sz="3600" b="0">
                <a:solidFill>
                  <a:srgbClr val="120E1A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120E1A"/>
                </a:solidFill>
                <a:latin typeface="Calibri"/>
              </a:defRPr>
            </a:pPr>
            <a:r>
              <a:t>Creators Can't Prove Their Worth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Fair pricing is a guessing game — no data-backed 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793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Average creator undercharges by 40-60%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268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No transparent metrics to negotiate with brands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743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Deal discovery and matching is fragmented across platforms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560320"/>
            <a:ext cx="356616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3600"/>
              </a:spcAft>
              <a:defRPr sz="3600" b="0">
                <a:solidFill>
                  <a:srgbClr val="120E1A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120E1A"/>
                </a:solidFill>
                <a:latin typeface="Calibri"/>
              </a:defRPr>
            </a:pPr>
            <a:r>
              <a:t>The Trust &amp; Efficiency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India has 20M+ creators but no central intelligence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793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$4.2B market crippled by fraud, opacity &amp; friction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268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Brands lose 30-50% budget on wrong creator partnerships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743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• Platforms (Insta/YouTube) offer no vetting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657600" cy="7315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31520" cy="4572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60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0"/>
              </a:spcAft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CreatorBridge AI — The Unified Intelligence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377440"/>
            <a:ext cx="54864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3347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06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TrueScore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0-100 scoring across</a:t>
            </a:r>
            <a:br/>
            <a:r>
              <a:t>engagement, authenticity</a:t>
            </a:r>
            <a:br/>
            <a:r>
              <a:t>&amp; consistency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03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377440"/>
            <a:ext cx="54864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65176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63347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606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FraudShield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00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Real-time fraud detection</a:t>
            </a:r>
            <a:br/>
            <a:r>
              <a:t>by engagement ratio</a:t>
            </a:r>
            <a:br/>
            <a:r>
              <a:t>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377440"/>
            <a:ext cx="54864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0" y="26517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63347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606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ROI Forecast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Funnel-based prediction:</a:t>
            </a:r>
            <a:br/>
            <a:r>
              <a:t>reach → conversions →</a:t>
            </a:r>
            <a:br/>
            <a:r>
              <a:t>revenue &amp; CPA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89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663440"/>
            <a:ext cx="548640" cy="38100"/>
          </a:xfrm>
          <a:prstGeom prst="rect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1947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892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DealMatch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Intelligent ranking:</a:t>
            </a:r>
            <a:br/>
            <a:r>
              <a:t>55% score + 25% niche</a:t>
            </a:r>
            <a:br/>
            <a:r>
              <a:t>+ 20% budget fit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389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4663440"/>
            <a:ext cx="548640" cy="38100"/>
          </a:xfrm>
          <a:prstGeom prst="rect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17720" y="4937760"/>
            <a:ext cx="457200" cy="457200"/>
          </a:xfrm>
          <a:prstGeom prst="ellipse">
            <a:avLst/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91947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4892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Value Calculator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486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Data-driven pricing:</a:t>
            </a:r>
            <a:br/>
            <a:r>
              <a:t>follower × niche rate</a:t>
            </a:r>
            <a:br/>
            <a:r>
              <a:t>× multipliers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389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0" y="4663440"/>
            <a:ext cx="5486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12480" y="493776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91947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8920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Commerce Bridge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486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8B839B"/>
                </a:solidFill>
                <a:latin typeface="Calibri"/>
              </a:defRPr>
            </a:pPr>
            <a:r>
              <a:t>Post-to-purchase</a:t>
            </a:r>
            <a:br/>
            <a:r>
              <a:t>attribution across all</a:t>
            </a:r>
            <a:br/>
            <a:r>
              <a:t>platforms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657600" cy="73152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3152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6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WHY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0"/>
              </a:spcAft>
              <a:defRPr sz="4000" b="1">
                <a:solidFill>
                  <a:srgbClr val="120E1A"/>
                </a:solidFill>
                <a:latin typeface="Calibri Light"/>
              </a:defRPr>
            </a:pPr>
            <a:r>
              <a:t>What Makes CreatorBridge AI Different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5915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700"/>
              </a:spcAft>
              <a:defRPr sz="1700" b="1">
                <a:solidFill>
                  <a:srgbClr val="120E1A"/>
                </a:solidFill>
                <a:latin typeface="Calibri"/>
              </a:defRPr>
            </a:pPr>
            <a:r>
              <a:t>India-First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Purpose-built for the Indian/APAC creator economy with localized benchmarks, pricing in INR, and region-specific fraud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03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2331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591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5915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700"/>
              </a:spcAft>
              <a:defRPr sz="1700" b="1">
                <a:solidFill>
                  <a:srgbClr val="120E1A"/>
                </a:solidFill>
                <a:latin typeface="Calibri"/>
              </a:defRPr>
            </a:pPr>
            <a:r>
              <a:t>Multi-Dimensional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26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Not just engagement rate — TrueScore combines 3 weighted factors (engagement, authenticity, consistency) into a single 0-100 trust metric.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2331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3591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35915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700"/>
              </a:spcAft>
              <a:defRPr sz="1700" b="1">
                <a:solidFill>
                  <a:srgbClr val="120E1A"/>
                </a:solidFill>
                <a:latin typeface="Calibri"/>
              </a:defRPr>
            </a:pPr>
            <a:r>
              <a:t>Fraud Detection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26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Proprietary ratio-based analysis detects bought followers, engagement pods, and bot activity before brands commit budget.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B6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451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4515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700"/>
              </a:spcAft>
              <a:defRPr sz="1700" b="1">
                <a:solidFill>
                  <a:srgbClr val="120E1A"/>
                </a:solidFill>
                <a:latin typeface="Calibri"/>
              </a:defRPr>
            </a:pPr>
            <a:r>
              <a:t>Full Funnel Forecasting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12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Go beyond vanity metrics: predict reach, conversions, revenue, CPA, and ROAS before a single rupee is spent.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389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628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6451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64515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700"/>
              </a:spcAft>
              <a:defRPr sz="1700" b="1">
                <a:solidFill>
                  <a:srgbClr val="120E1A"/>
                </a:solidFill>
                <a:latin typeface="Calibri"/>
              </a:defRPr>
            </a:pPr>
            <a:r>
              <a:t>Auto-Generated Deal Briefs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212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From score to contract in one click — automated deliverables, timeline, payment terms, and usage rights.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389120"/>
            <a:ext cx="356616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6676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645152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64515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700"/>
              </a:spcAft>
              <a:defRPr sz="1700" b="1">
                <a:solidFill>
                  <a:srgbClr val="120E1A"/>
                </a:solidFill>
                <a:latin typeface="Calibri"/>
              </a:defRPr>
            </a:pPr>
            <a:r>
              <a:t>ML-Ready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212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554D65"/>
                </a:solidFill>
                <a:latin typeface="Calibri"/>
              </a:defRPr>
            </a:pPr>
            <a:r>
              <a:t>All scoring logic in clean, swappable utilities. Plug in real ML models without rewriting the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657600" cy="7315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31520" cy="4572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60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0"/>
              </a:spcAft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Three Revenue Streams, One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73152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Brand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800"/>
              </a:spcAft>
              <a:defRPr sz="2800" b="1">
                <a:solidFill>
                  <a:srgbClr val="7C3AED"/>
                </a:solidFill>
                <a:latin typeface="Calibri"/>
              </a:defRPr>
            </a:pPr>
            <a:r>
              <a:t>$49–$149/mo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Brand Starter: $49/mo — basic scoring &amp; vetting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Brand Pro: $149/mo — full platform access +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Enterprise: Custom — white-label + API + dedicated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Target: 500 brands in Year 1 → $600K ARR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10312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286000"/>
            <a:ext cx="73152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560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Creator Marketplace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089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800"/>
              </a:spcAft>
              <a:defRPr sz="2800" b="1">
                <a:solidFill>
                  <a:srgbClr val="FF6B6B"/>
                </a:solidFill>
                <a:latin typeface="Calibri"/>
              </a:defRPr>
            </a:pPr>
            <a:r>
              <a:t>Free + $9/mo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Free tier: basic profile, TrueScore, deal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Creator Pro: $9/mo — analytics, priority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3-5% deal fee on completed brand-creator 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Target: 10K creators in Year 1 → $300K ARR (deals)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10312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1A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228600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8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560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Agency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1089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800"/>
              </a:spcAft>
              <a:defRPr sz="2800" b="1">
                <a:solidFill>
                  <a:srgbClr val="10B981"/>
                </a:solidFill>
                <a:latin typeface="Calibri"/>
              </a:defRPr>
            </a:pPr>
            <a:r>
              <a:t>$299/mo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Full API access: all scoring, forecasting, matching endpoints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977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Custom webhooks, SLA 99.9% uptime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Platform partnerships with influencer agencies &amp; networks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→ Target: 100 agencies in Year 1 → $360K ARR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86000" y="6400800"/>
            <a:ext cx="7589520" cy="457200"/>
          </a:xfrm>
          <a:prstGeom prst="roundRect">
            <a:avLst>
              <a:gd name="adj" fmla="val 5000"/>
            </a:avLst>
          </a:prstGeom>
          <a:solidFill>
            <a:srgbClr val="12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0" y="64008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1400" b="0">
                <a:solidFill>
                  <a:srgbClr val="8B839B"/>
                </a:solidFill>
                <a:latin typeface="Calibri"/>
              </a:defRPr>
            </a:pPr>
            <a:r>
              <a:t>Projected Year 1 Revenue: $1.2M+ ARR  |  Gross Margin: 75-85%  |  Breakeven: Month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657600" cy="73152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73152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600"/>
              </a:spcAft>
              <a:defRPr sz="1600" b="1">
                <a:solidFill>
                  <a:srgbClr val="7C3AED"/>
                </a:solidFill>
                <a:latin typeface="Calibri"/>
              </a:defRPr>
            </a:pPr>
            <a:r>
              <a:t>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0"/>
              </a:spcAft>
              <a:defRPr sz="4000" b="1">
                <a:solidFill>
                  <a:srgbClr val="120E1A"/>
                </a:solidFill>
                <a:latin typeface="Calibri Light"/>
              </a:defRPr>
            </a:pPr>
            <a:r>
              <a:t>Market Opportunity &amp; Our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0"/>
              </a:spcAft>
              <a:defRPr sz="2000" b="1">
                <a:solidFill>
                  <a:srgbClr val="120E1A"/>
                </a:solidFill>
                <a:latin typeface="Calibri"/>
              </a:defRPr>
            </a:pPr>
            <a:r>
              <a:t>Market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200"/>
              </a:spcAft>
              <a:defRPr sz="2200" b="1">
                <a:solidFill>
                  <a:srgbClr val="7C3AED"/>
                </a:solidFill>
                <a:latin typeface="Calibri"/>
              </a:defRPr>
            </a:pPr>
            <a:r>
              <a:t>$4.2B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76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554D65"/>
                </a:solidFill>
                <a:latin typeface="Calibri"/>
              </a:defRPr>
            </a:pPr>
            <a:r>
              <a:t>Indian Creator Economy by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200"/>
              </a:spcAft>
              <a:defRPr sz="2200" b="1">
                <a:solidFill>
                  <a:srgbClr val="7C3AED"/>
                </a:solidFill>
                <a:latin typeface="Calibri"/>
              </a:defRPr>
            </a:pPr>
            <a:r>
              <a:t>20M+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662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554D65"/>
                </a:solidFill>
                <a:latin typeface="Calibri"/>
              </a:defRPr>
            </a:pPr>
            <a:r>
              <a:t>Content Creators in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200"/>
              </a:spcAft>
              <a:defRPr sz="2200" b="1">
                <a:solidFill>
                  <a:srgbClr val="7C3AED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348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554D65"/>
                </a:solidFill>
                <a:latin typeface="Calibri"/>
              </a:defRPr>
            </a:pPr>
            <a:r>
              <a:t>Brands Using Creator 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200"/>
              </a:spcAft>
              <a:defRPr sz="2200" b="1">
                <a:solidFill>
                  <a:srgbClr val="FF6B6B"/>
                </a:solidFill>
                <a:latin typeface="Calibri"/>
              </a:defRPr>
            </a:pPr>
            <a:r>
              <a:t>3.5x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034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554D65"/>
                </a:solidFill>
                <a:latin typeface="Calibri"/>
              </a:defRPr>
            </a:pPr>
            <a:r>
              <a:t>Avg ROI of Creator Campaigns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200"/>
              </a:spcAft>
              <a:defRPr sz="2200" b="1">
                <a:solidFill>
                  <a:srgbClr val="FF6B6B"/>
                </a:solidFill>
                <a:latin typeface="Calibri"/>
              </a:defRPr>
            </a:pPr>
            <a:r>
              <a:t>₹1,200Cr+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72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554D65"/>
                </a:solidFill>
                <a:latin typeface="Calibri"/>
              </a:defRPr>
            </a:pPr>
            <a:r>
              <a:t>Wasted on Fraudulent Engagement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2103120"/>
            <a:ext cx="5943600" cy="4389120"/>
          </a:xfrm>
          <a:prstGeom prst="roundRect">
            <a:avLst>
              <a:gd name="adj" fmla="val 5000"/>
            </a:avLst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Our Vision &amp; Roadmap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926080"/>
            <a:ext cx="1005840" cy="5029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9641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1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9641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MVP Launch — TrueScore, FraudShield, ROI Forecast, DealMatch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611880"/>
            <a:ext cx="100584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6499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1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6499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Social Commerce Bridge beta — platform API integrations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4297680"/>
            <a:ext cx="100584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43357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1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3357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ML upgrade — predictive LTV modeling, cross-platform identity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4983480"/>
            <a:ext cx="100584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0215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1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215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Creator marketplace launch — deal transactions &amp; escrow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5669280"/>
            <a:ext cx="1005840" cy="5029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57073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1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H2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70738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100"/>
              </a:spcAft>
              <a:defRPr sz="1100" b="0">
                <a:solidFill>
                  <a:srgbClr val="8B839B"/>
                </a:solidFill>
                <a:latin typeface="Calibri"/>
              </a:defRPr>
            </a:pPr>
            <a:r>
              <a:t>SEA expansion — Indonesia, Thailand, Vietnam, Philippines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6400800"/>
            <a:ext cx="7589520" cy="4572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64008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CreatorBridge AI — Powering the Next Generation of Creator-Brand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